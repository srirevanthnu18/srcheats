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8229600" cx="14630400"/>
  <p:notesSz cx="8229600" cy="14630400"/>
  <p:embeddedFontLst>
    <p:embeddedFont>
      <p:font typeface="Source Sans 3"/>
      <p:regular r:id="rId11"/>
      <p:bold r:id="rId12"/>
      <p:italic r:id="rId13"/>
      <p:boldItalic r:id="rId14"/>
    </p:embeddedFont>
    <p:embeddedFont>
      <p:font typeface="Source Serif 4 SemiBol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Sans3-regular.fntdata"/><Relationship Id="rId10" Type="http://schemas.openxmlformats.org/officeDocument/2006/relationships/slide" Target="slides/slide6.xml"/><Relationship Id="rId13" Type="http://schemas.openxmlformats.org/officeDocument/2006/relationships/font" Target="fonts/SourceSans3-italic.fntdata"/><Relationship Id="rId12" Type="http://schemas.openxmlformats.org/officeDocument/2006/relationships/font" Target="fonts/SourceSans3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ourceSerif4SemiBold-regular.fntdata"/><Relationship Id="rId14" Type="http://schemas.openxmlformats.org/officeDocument/2006/relationships/font" Target="fonts/SourceSans3-boldItalic.fntdata"/><Relationship Id="rId17" Type="http://schemas.openxmlformats.org/officeDocument/2006/relationships/font" Target="fonts/SourceSerif4SemiBold-italic.fntdata"/><Relationship Id="rId16" Type="http://schemas.openxmlformats.org/officeDocument/2006/relationships/font" Target="fonts/SourceSerif4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SourceSerif4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324124" y="2488644"/>
            <a:ext cx="7468553" cy="212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 SemiBold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🌸 Cyber Safety: Safe &amp; Smart Online Adventures 💻</a:t>
            </a:r>
            <a:endParaRPr b="0" i="0" sz="44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324124" y="4974908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Welcome, Class 11! Let's explore the digital world together, learn how to stay safe, and become responsible digital citizens.</a:t>
            </a:r>
            <a:endParaRPr b="1" i="0" sz="21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12708725" y="7479500"/>
            <a:ext cx="1800300" cy="75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987749" y="1108365"/>
            <a:ext cx="66606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 SemiBold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What is Cyber Safety? 💖</a:t>
            </a:r>
            <a:endParaRPr b="0" i="0" sz="44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837724" y="2681752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Cyber safety is all about protecting yourself and your information while using the internet. Think of it as your digital superpower!</a:t>
            </a:r>
            <a:endParaRPr b="1" i="0" sz="21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837724" y="3679627"/>
            <a:ext cx="4158734" cy="2712839"/>
          </a:xfrm>
          <a:prstGeom prst="roundRect">
            <a:avLst>
              <a:gd fmla="val 3706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084659" y="3926562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065" y="4123968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1084659" y="488394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Protecting Yourself</a:t>
            </a:r>
            <a:endParaRPr b="0" i="0" sz="22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1084659" y="5379482"/>
            <a:ext cx="366486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Keeping your personal info safe from bad guys online.</a:t>
            </a:r>
            <a:endParaRPr b="0" i="0" sz="185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5235773" y="3679627"/>
            <a:ext cx="4158734" cy="2712839"/>
          </a:xfrm>
          <a:prstGeom prst="roundRect">
            <a:avLst>
              <a:gd fmla="val 3706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5482709" y="3926562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115" y="4123968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5482709" y="488394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Staying Smart</a:t>
            </a:r>
            <a:endParaRPr b="0" i="0" sz="22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5482709" y="5379482"/>
            <a:ext cx="366486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Making good choices in the vast online world.</a:t>
            </a:r>
            <a:endParaRPr b="0" i="0" sz="185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9633823" y="3679627"/>
            <a:ext cx="4158853" cy="2712839"/>
          </a:xfrm>
          <a:prstGeom prst="roundRect">
            <a:avLst>
              <a:gd fmla="val 3706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9880759" y="3926562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8164" y="4123968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9880759" y="488394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Why It Matters</a:t>
            </a:r>
            <a:endParaRPr b="0" i="0" sz="220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9880759" y="5379482"/>
            <a:ext cx="366498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Ensuring your online experience is fun and worry-free!</a:t>
            </a:r>
            <a:endParaRPr b="0" i="0" sz="185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12708725" y="7479500"/>
            <a:ext cx="1800300" cy="75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929174" y="701639"/>
            <a:ext cx="95160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 SemiBold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⚠️ Online Threats to Watch Out </a:t>
            </a:r>
            <a:r>
              <a:rPr b="1" lang="en-US" sz="4400"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:</a:t>
            </a:r>
            <a:endParaRPr b="0" i="0" sz="44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837662" y="2068939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internet is amazing, but it has its tricky parts too. Let's learn about common dangers!</a:t>
            </a:r>
            <a:endParaRPr b="1" i="0" sz="20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837724" y="3107650"/>
            <a:ext cx="4158734" cy="1808798"/>
          </a:xfrm>
          <a:prstGeom prst="roundRect">
            <a:avLst>
              <a:gd fmla="val 8088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807244" y="3107650"/>
            <a:ext cx="121920" cy="1808798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1198959" y="3377446"/>
            <a:ext cx="28161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Malware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👾</a:t>
            </a:r>
            <a:endParaRPr b="0" i="0" sz="220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1198959" y="3880604"/>
            <a:ext cx="352770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Nasty software that </a:t>
            </a:r>
            <a:r>
              <a:rPr b="0" i="0" lang="en-US" sz="19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 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harm your devices.</a:t>
            </a:r>
            <a:endParaRPr b="0" i="0" sz="18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5235773" y="3107650"/>
            <a:ext cx="4158734" cy="1808798"/>
          </a:xfrm>
          <a:prstGeom prst="roundRect">
            <a:avLst>
              <a:gd fmla="val 8088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5205293" y="3107650"/>
            <a:ext cx="121920" cy="1808798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5597009" y="3377446"/>
            <a:ext cx="28161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Phishing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🎣</a:t>
            </a:r>
            <a:endParaRPr b="0" i="0" sz="220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5597009" y="3880604"/>
            <a:ext cx="352770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Tricky messages trying to steal your passwords.</a:t>
            </a:r>
            <a:endParaRPr b="0" i="0" sz="20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9633823" y="3107650"/>
            <a:ext cx="4158853" cy="1808798"/>
          </a:xfrm>
          <a:prstGeom prst="roundRect">
            <a:avLst>
              <a:gd fmla="val 8088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9603343" y="3107650"/>
            <a:ext cx="121920" cy="1808798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9995059" y="3377446"/>
            <a:ext cx="28161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Fake Websites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🎭</a:t>
            </a:r>
            <a:endParaRPr b="0" i="0" sz="22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9995059" y="3880604"/>
            <a:ext cx="352782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Sites designed to look real but are actually scams.</a:t>
            </a:r>
            <a:endParaRPr b="0" i="0" sz="185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837724" y="5155763"/>
            <a:ext cx="4158734" cy="1808798"/>
          </a:xfrm>
          <a:prstGeom prst="roundRect">
            <a:avLst>
              <a:gd fmla="val 8088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807244" y="5155763"/>
            <a:ext cx="121920" cy="1808798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1198959" y="5425559"/>
            <a:ext cx="28161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Identity Theft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👻</a:t>
            </a:r>
            <a:endParaRPr b="0" i="0" sz="220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1198959" y="5928717"/>
            <a:ext cx="352770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When someone steals your personal details.</a:t>
            </a:r>
            <a:endParaRPr b="0" i="0" sz="185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5235773" y="5155763"/>
            <a:ext cx="4158734" cy="1808798"/>
          </a:xfrm>
          <a:prstGeom prst="roundRect">
            <a:avLst>
              <a:gd fmla="val 8088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205293" y="5155763"/>
            <a:ext cx="121920" cy="1808798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597009" y="5425559"/>
            <a:ext cx="2816185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Scams &amp; Fraud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💸</a:t>
            </a:r>
            <a:endParaRPr b="0" i="0" sz="220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5597009" y="5928717"/>
            <a:ext cx="352770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Online tricks to get your money or information.</a:t>
            </a:r>
            <a:endParaRPr b="0" i="0" sz="1850" u="none" cap="none" strike="noStrike"/>
          </a:p>
        </p:txBody>
      </p:sp>
      <p:sp>
        <p:nvSpPr>
          <p:cNvPr id="110" name="Google Shape;110;p15"/>
          <p:cNvSpPr/>
          <p:nvPr/>
        </p:nvSpPr>
        <p:spPr>
          <a:xfrm>
            <a:off x="12708725" y="7479500"/>
            <a:ext cx="1800300" cy="75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729377" y="581025"/>
            <a:ext cx="7685246" cy="1225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50"/>
              <a:buFont typeface="Source Serif 4 SemiBold"/>
              <a:buNone/>
            </a:pPr>
            <a:r>
              <a:rPr b="1" i="0" lang="en-US" sz="385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🎣 Phishing &amp; Fraud: Don't Take the Bait!</a:t>
            </a:r>
            <a:endParaRPr b="0" i="0" sz="385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729377" y="2119432"/>
            <a:ext cx="768524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Phishing is a sneaky way scammers try to get your personal information. Be smart!</a:t>
            </a:r>
            <a:endParaRPr b="0" i="0" sz="160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729377" y="2687241"/>
            <a:ext cx="833557" cy="1514832"/>
          </a:xfrm>
          <a:prstGeom prst="roundRect">
            <a:avLst>
              <a:gd fmla="val 360047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989886" y="3249216"/>
            <a:ext cx="312539" cy="39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Source Serif 4 SemiBold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1</a:t>
            </a:r>
            <a:endParaRPr b="0" i="0" sz="245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1771293" y="2895600"/>
            <a:ext cx="2451854" cy="30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Source Serif 4 SemiBold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What is Phishing?</a:t>
            </a:r>
            <a:endParaRPr b="0" i="0" sz="1900" u="none" cap="none" strike="noStrike"/>
          </a:p>
        </p:txBody>
      </p:sp>
      <p:sp>
        <p:nvSpPr>
          <p:cNvPr id="122" name="Google Shape;122;p16"/>
          <p:cNvSpPr/>
          <p:nvPr/>
        </p:nvSpPr>
        <p:spPr>
          <a:xfrm>
            <a:off x="1771293" y="3326963"/>
            <a:ext cx="664333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Source Sans 3"/>
              <a:buNone/>
            </a:pPr>
            <a:r>
              <a:rPr b="0" i="0" lang="en-US" sz="18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Emails or messages designed to look like they're from trusted sources (like your bank or a famous company) asking for your info.</a:t>
            </a:r>
            <a:endParaRPr b="0" i="0" sz="1800" u="none" cap="none" strike="noStrike"/>
          </a:p>
        </p:txBody>
      </p:sp>
      <p:sp>
        <p:nvSpPr>
          <p:cNvPr id="123" name="Google Shape;123;p16"/>
          <p:cNvSpPr/>
          <p:nvPr/>
        </p:nvSpPr>
        <p:spPr>
          <a:xfrm>
            <a:off x="729377" y="4410432"/>
            <a:ext cx="833557" cy="1514832"/>
          </a:xfrm>
          <a:prstGeom prst="roundRect">
            <a:avLst>
              <a:gd fmla="val 360047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989886" y="4972407"/>
            <a:ext cx="312539" cy="39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Source Serif 4 SemiBold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2</a:t>
            </a:r>
            <a:endParaRPr b="0" i="0" sz="245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1771293" y="4618792"/>
            <a:ext cx="2451854" cy="30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Source Serif 4 SemiBold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How They Trick You</a:t>
            </a:r>
            <a:endParaRPr b="0" i="0" sz="1900" u="none" cap="none" strike="noStrike"/>
          </a:p>
        </p:txBody>
      </p:sp>
      <p:sp>
        <p:nvSpPr>
          <p:cNvPr id="126" name="Google Shape;126;p16"/>
          <p:cNvSpPr/>
          <p:nvPr/>
        </p:nvSpPr>
        <p:spPr>
          <a:xfrm>
            <a:off x="1771293" y="5050155"/>
            <a:ext cx="664333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Source Sans 3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They might say your account is locked, offer fake prizes, or pretend to be someone you know.</a:t>
            </a:r>
            <a:endParaRPr b="0" i="0" sz="1700" u="none" cap="none" strike="noStrike"/>
          </a:p>
        </p:txBody>
      </p:sp>
      <p:sp>
        <p:nvSpPr>
          <p:cNvPr id="127" name="Google Shape;127;p16"/>
          <p:cNvSpPr/>
          <p:nvPr/>
        </p:nvSpPr>
        <p:spPr>
          <a:xfrm>
            <a:off x="729377" y="6133624"/>
            <a:ext cx="833557" cy="1514832"/>
          </a:xfrm>
          <a:prstGeom prst="roundRect">
            <a:avLst>
              <a:gd fmla="val 360047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989886" y="6695599"/>
            <a:ext cx="312539" cy="39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Source Serif 4 SemiBold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3</a:t>
            </a:r>
            <a:endParaRPr b="0" i="0" sz="2450" u="none" cap="none" strike="noStrike"/>
          </a:p>
        </p:txBody>
      </p:sp>
      <p:sp>
        <p:nvSpPr>
          <p:cNvPr id="129" name="Google Shape;129;p16"/>
          <p:cNvSpPr/>
          <p:nvPr/>
        </p:nvSpPr>
        <p:spPr>
          <a:xfrm>
            <a:off x="1771293" y="6341983"/>
            <a:ext cx="2451854" cy="306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Source Serif 4 SemiBold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Safety Tips</a:t>
            </a:r>
            <a:endParaRPr b="0" i="0" sz="190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1771293" y="6773347"/>
            <a:ext cx="664333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Source Sans 3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Always check the sender, look for spelling errors, and never click suspicious links or attachments.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837724" y="1126808"/>
            <a:ext cx="8148042" cy="7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 SemiBold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📱 Safe Social Media Practices</a:t>
            </a:r>
            <a:endParaRPr b="0" i="0" sz="44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837724" y="2317194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Social media is fun, but always remember to use it wisely!</a:t>
            </a:r>
            <a:endParaRPr b="0" i="0" sz="185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837724" y="2969419"/>
            <a:ext cx="4158734" cy="2138482"/>
          </a:xfrm>
          <a:prstGeom prst="roundRect">
            <a:avLst>
              <a:gd fmla="val 26865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1084659" y="321635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Strong Passwords</a:t>
            </a:r>
            <a:endParaRPr b="0" i="0" sz="2200" u="none" cap="none" strike="noStrike"/>
          </a:p>
        </p:txBody>
      </p:sp>
      <p:sp>
        <p:nvSpPr>
          <p:cNvPr id="140" name="Google Shape;140;p17"/>
          <p:cNvSpPr/>
          <p:nvPr/>
        </p:nvSpPr>
        <p:spPr>
          <a:xfrm>
            <a:off x="1084659" y="3711892"/>
            <a:ext cx="366486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Make them long and complex, a mix of letters, numbers, and symbols.</a:t>
            </a:r>
            <a:endParaRPr b="0" i="0" sz="1850" u="none" cap="none" strike="noStrike"/>
          </a:p>
        </p:txBody>
      </p:sp>
      <p:sp>
        <p:nvSpPr>
          <p:cNvPr id="141" name="Google Shape;141;p17"/>
          <p:cNvSpPr/>
          <p:nvPr/>
        </p:nvSpPr>
        <p:spPr>
          <a:xfrm>
            <a:off x="5235773" y="2969419"/>
            <a:ext cx="4158734" cy="2138482"/>
          </a:xfrm>
          <a:prstGeom prst="roundRect">
            <a:avLst>
              <a:gd fmla="val 26865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482709" y="321635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Don't Overshare</a:t>
            </a:r>
            <a:endParaRPr b="0" i="0" sz="220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5482709" y="3711892"/>
            <a:ext cx="366486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Avoid posting too much personal info like your address or daily routines.</a:t>
            </a:r>
            <a:endParaRPr b="0" i="0" sz="185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9633823" y="2862244"/>
            <a:ext cx="4158900" cy="2138400"/>
          </a:xfrm>
          <a:prstGeom prst="roundRect">
            <a:avLst>
              <a:gd fmla="val 26865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9880759" y="3030092"/>
            <a:ext cx="3031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Keep Accounts Private</a:t>
            </a:r>
            <a:endParaRPr b="0" i="0" sz="2200" u="none" cap="none" strike="noStrike"/>
          </a:p>
        </p:txBody>
      </p:sp>
      <p:sp>
        <p:nvSpPr>
          <p:cNvPr id="146" name="Google Shape;146;p17"/>
          <p:cNvSpPr/>
          <p:nvPr/>
        </p:nvSpPr>
        <p:spPr>
          <a:xfrm>
            <a:off x="9880759" y="3711892"/>
            <a:ext cx="3664982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privacy settings to control who sees your posts and profile.</a:t>
            </a:r>
            <a:endParaRPr b="0" i="0" sz="185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837724" y="5347216"/>
            <a:ext cx="6357818" cy="1755458"/>
          </a:xfrm>
          <a:prstGeom prst="roundRect">
            <a:avLst>
              <a:gd fmla="val 32727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188484" y="5422827"/>
            <a:ext cx="3457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Be Careful with Strangers</a:t>
            </a:r>
            <a:endParaRPr b="0" i="0" sz="220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1084659" y="6089690"/>
            <a:ext cx="586394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Don't accept friend requests from people you don't kno</a:t>
            </a:r>
            <a:r>
              <a:rPr lang="en-US" sz="18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wn 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 life.</a:t>
            </a:r>
            <a:endParaRPr b="0" i="0" sz="185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7434870" y="5415966"/>
            <a:ext cx="6357900" cy="1755600"/>
          </a:xfrm>
          <a:prstGeom prst="roundRect">
            <a:avLst>
              <a:gd fmla="val 32727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681793" y="5422827"/>
            <a:ext cx="34476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 SemiBold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Report Harmful Behavior</a:t>
            </a:r>
            <a:endParaRPr b="0" i="0" sz="2200" u="none" cap="none" strike="noStrike"/>
          </a:p>
        </p:txBody>
      </p:sp>
      <p:sp>
        <p:nvSpPr>
          <p:cNvPr id="152" name="Google Shape;152;p17"/>
          <p:cNvSpPr/>
          <p:nvPr/>
        </p:nvSpPr>
        <p:spPr>
          <a:xfrm>
            <a:off x="7681793" y="6089690"/>
            <a:ext cx="586394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If you see something inappropriate, report it to the platform and tell an adult.</a:t>
            </a:r>
            <a:endParaRPr b="0" i="0" sz="1850" u="none" cap="none" strike="noStrike"/>
          </a:p>
        </p:txBody>
      </p:sp>
      <p:sp>
        <p:nvSpPr>
          <p:cNvPr id="153" name="Google Shape;153;p17"/>
          <p:cNvSpPr/>
          <p:nvPr/>
        </p:nvSpPr>
        <p:spPr>
          <a:xfrm>
            <a:off x="12708725" y="7479500"/>
            <a:ext cx="1800300" cy="75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6224230" y="752713"/>
            <a:ext cx="7668339" cy="124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Source Serif 4 SemiBold"/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✨ Safe Browsing: Explore with Confidence!</a:t>
            </a:r>
            <a:endParaRPr b="0" i="0" sz="390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6224230" y="2316361"/>
            <a:ext cx="7668339" cy="337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internet is a vast library, but some books are better than others. Browse smartly!</a:t>
            </a:r>
            <a:endParaRPr b="0" i="0" sz="1650" u="none" cap="none" strike="noStrike"/>
          </a:p>
        </p:txBody>
      </p:sp>
      <p:sp>
        <p:nvSpPr>
          <p:cNvPr id="162" name="Google Shape;162;p18"/>
          <p:cNvSpPr/>
          <p:nvPr/>
        </p:nvSpPr>
        <p:spPr>
          <a:xfrm>
            <a:off x="6224230" y="3206829"/>
            <a:ext cx="3728799" cy="2208848"/>
          </a:xfrm>
          <a:prstGeom prst="roundRect">
            <a:avLst>
              <a:gd fmla="val 4968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224230" y="3183969"/>
            <a:ext cx="3728799" cy="91440"/>
          </a:xfrm>
          <a:prstGeom prst="roundRect">
            <a:avLst>
              <a:gd fmla="val 96830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772460" y="2890718"/>
            <a:ext cx="632341" cy="632341"/>
          </a:xfrm>
          <a:prstGeom prst="roundRect">
            <a:avLst>
              <a:gd fmla="val 14460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7962126" y="3048833"/>
            <a:ext cx="252889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 SemiBold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1</a:t>
            </a:r>
            <a:endParaRPr b="0" i="0" sz="195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6489794" y="3364950"/>
            <a:ext cx="26706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 SemiBold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Trusted Websites Only</a:t>
            </a:r>
            <a:endParaRPr b="0" i="0" sz="195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6457831" y="4170164"/>
            <a:ext cx="3261598" cy="67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9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Stick to sites you know and trust. If something feels off, leave the site.</a:t>
            </a:r>
            <a:endParaRPr b="0" i="0" sz="195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10163770" y="3206829"/>
            <a:ext cx="3728799" cy="2208848"/>
          </a:xfrm>
          <a:prstGeom prst="roundRect">
            <a:avLst>
              <a:gd fmla="val 4968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0163770" y="3183969"/>
            <a:ext cx="3728799" cy="91440"/>
          </a:xfrm>
          <a:prstGeom prst="roundRect">
            <a:avLst>
              <a:gd fmla="val 96830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1712000" y="2890718"/>
            <a:ext cx="632341" cy="632341"/>
          </a:xfrm>
          <a:prstGeom prst="roundRect">
            <a:avLst>
              <a:gd fmla="val 14460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1901666" y="3048833"/>
            <a:ext cx="252889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 SemiBold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2</a:t>
            </a:r>
            <a:endParaRPr b="0" i="0" sz="19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10397371" y="3733800"/>
            <a:ext cx="2480072" cy="309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 SemiBold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Look for HTTPS</a:t>
            </a:r>
            <a:endParaRPr b="0" i="0" sz="195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10397371" y="4170164"/>
            <a:ext cx="3261598" cy="101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Always check for "https://" at the start of a website address. The "s" means it's secure!</a:t>
            </a:r>
            <a:endParaRPr b="0" i="0" sz="185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6224230" y="5942528"/>
            <a:ext cx="7668339" cy="1534239"/>
          </a:xfrm>
          <a:prstGeom prst="roundRect">
            <a:avLst>
              <a:gd fmla="val 7152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6224230" y="5919668"/>
            <a:ext cx="7668339" cy="91440"/>
          </a:xfrm>
          <a:prstGeom prst="roundRect">
            <a:avLst>
              <a:gd fmla="val 96830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9742230" y="5626418"/>
            <a:ext cx="632341" cy="632341"/>
          </a:xfrm>
          <a:prstGeom prst="roundRect">
            <a:avLst>
              <a:gd fmla="val 14460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9931896" y="5784532"/>
            <a:ext cx="252889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Source Serif 4 SemiBold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3</a:t>
            </a:r>
            <a:endParaRPr b="0" i="0" sz="1950" u="none" cap="none" strike="noStrike"/>
          </a:p>
        </p:txBody>
      </p:sp>
      <p:sp>
        <p:nvSpPr>
          <p:cNvPr id="178" name="Google Shape;178;p18"/>
          <p:cNvSpPr/>
          <p:nvPr/>
        </p:nvSpPr>
        <p:spPr>
          <a:xfrm>
            <a:off x="6457831" y="6303524"/>
            <a:ext cx="37554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 SemiBold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Don't Download Unknown Files</a:t>
            </a:r>
            <a:endParaRPr b="0" i="0" sz="195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6457831" y="6905863"/>
            <a:ext cx="7201138" cy="337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9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Be careful what you download. Unknown files can contain malware.</a:t>
            </a:r>
            <a:endParaRPr b="0" i="0" sz="1950" u="none" cap="none" strike="noStrike"/>
          </a:p>
        </p:txBody>
      </p:sp>
      <p:sp>
        <p:nvSpPr>
          <p:cNvPr id="180" name="Google Shape;180;p18"/>
          <p:cNvSpPr/>
          <p:nvPr/>
        </p:nvSpPr>
        <p:spPr>
          <a:xfrm>
            <a:off x="12708725" y="7479500"/>
            <a:ext cx="1800300" cy="75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